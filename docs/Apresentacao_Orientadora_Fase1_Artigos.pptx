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447" y="29788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9BB0BA"/>
                </a:solidFill>
                <a:latin typeface="Calibri"/>
              </a:rPr>
              <a:t>UNESP — PPGEP | </a:t>
            </a:r>
            <a:r>
              <a:rPr sz="1400" b="0" dirty="0" err="1">
                <a:solidFill>
                  <a:srgbClr val="9BB0BA"/>
                </a:solidFill>
                <a:latin typeface="Calibri"/>
              </a:rPr>
              <a:t>Câmpus</a:t>
            </a:r>
            <a:r>
              <a:rPr sz="1400" b="0" dirty="0">
                <a:solidFill>
                  <a:srgbClr val="9BB0BA"/>
                </a:solidFill>
                <a:latin typeface="Calibri"/>
              </a:rPr>
              <a:t> de Bauru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977560"/>
            <a:ext cx="10972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dirty="0" err="1">
                <a:solidFill>
                  <a:srgbClr val="FFFFFF"/>
                </a:solidFill>
                <a:latin typeface="Calibri"/>
              </a:rPr>
              <a:t>Otimização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 de Escalas e </a:t>
            </a:r>
            <a:r>
              <a:rPr sz="4800" b="1" dirty="0" err="1">
                <a:solidFill>
                  <a:srgbClr val="FFFFFF"/>
                </a:solidFill>
                <a:latin typeface="Calibri"/>
              </a:rPr>
              <a:t>Roteamento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 Territorial</a:t>
            </a:r>
            <a:r>
              <a:rPr lang="pt-BR" sz="4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no </a:t>
            </a:r>
            <a:r>
              <a:rPr sz="4800" b="1" dirty="0" err="1">
                <a:solidFill>
                  <a:srgbClr val="FFFFFF"/>
                </a:solidFill>
                <a:latin typeface="Calibri"/>
              </a:rPr>
              <a:t>Consultório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Calibri"/>
              </a:rPr>
              <a:t>na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 Rua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3D9B8F"/>
                </a:solidFill>
                <a:latin typeface="Calibri"/>
              </a:rPr>
              <a:t>Fase 1 do SAD: </a:t>
            </a:r>
            <a:r>
              <a:rPr sz="2800" b="0" dirty="0" err="1">
                <a:solidFill>
                  <a:srgbClr val="3D9B8F"/>
                </a:solidFill>
                <a:latin typeface="Calibri"/>
              </a:rPr>
              <a:t>fundação</a:t>
            </a:r>
            <a:r>
              <a:rPr sz="2800" b="0" dirty="0">
                <a:solidFill>
                  <a:srgbClr val="3D9B8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3D9B8F"/>
                </a:solidFill>
                <a:latin typeface="Calibri"/>
              </a:rPr>
              <a:t>espacial</a:t>
            </a:r>
            <a:r>
              <a:rPr sz="2800" b="0" dirty="0">
                <a:solidFill>
                  <a:srgbClr val="3D9B8F"/>
                </a:solidFill>
                <a:latin typeface="Calibri"/>
              </a:rPr>
              <a:t>, IA </a:t>
            </a:r>
            <a:r>
              <a:rPr sz="2800" b="0" dirty="0" err="1">
                <a:solidFill>
                  <a:srgbClr val="3D9B8F"/>
                </a:solidFill>
                <a:latin typeface="Calibri"/>
              </a:rPr>
              <a:t>preditiva</a:t>
            </a:r>
            <a:r>
              <a:rPr sz="2800" b="0" dirty="0">
                <a:solidFill>
                  <a:srgbClr val="3D9B8F"/>
                </a:solidFill>
                <a:latin typeface="Calibri"/>
              </a:rPr>
              <a:t> e </a:t>
            </a:r>
            <a:r>
              <a:rPr sz="2800" b="0" dirty="0" err="1">
                <a:solidFill>
                  <a:srgbClr val="3D9B8F"/>
                </a:solidFill>
                <a:latin typeface="Calibri"/>
              </a:rPr>
              <a:t>estratégia</a:t>
            </a:r>
            <a:r>
              <a:rPr sz="2800" b="0" dirty="0">
                <a:solidFill>
                  <a:srgbClr val="3D9B8F"/>
                </a:solidFill>
                <a:latin typeface="Calibri"/>
              </a:rPr>
              <a:t> dos </a:t>
            </a:r>
            <a:r>
              <a:rPr sz="2800" b="0" dirty="0" err="1">
                <a:solidFill>
                  <a:srgbClr val="3D9B8F"/>
                </a:solidFill>
                <a:latin typeface="Calibri"/>
              </a:rPr>
              <a:t>dois</a:t>
            </a:r>
            <a:r>
              <a:rPr sz="2800" b="0" dirty="0">
                <a:solidFill>
                  <a:srgbClr val="3D9B8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3D9B8F"/>
                </a:solidFill>
                <a:latin typeface="Calibri"/>
              </a:rPr>
              <a:t>artigos</a:t>
            </a:r>
            <a:endParaRPr sz="2800" b="0" dirty="0">
              <a:solidFill>
                <a:srgbClr val="3D9B8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1F4"/>
                </a:solidFill>
                <a:latin typeface="Calibri"/>
              </a:rPr>
              <a:t>Doutorando: Ever Santoro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0" dirty="0">
                <a:solidFill>
                  <a:srgbClr val="9BB0BA"/>
                </a:solidFill>
                <a:latin typeface="Calibri"/>
              </a:rPr>
              <a:t>D</a:t>
            </a:r>
            <a:r>
              <a:rPr sz="1400" b="0" dirty="0" err="1">
                <a:solidFill>
                  <a:srgbClr val="9BB0BA"/>
                </a:solidFill>
                <a:latin typeface="Calibri"/>
              </a:rPr>
              <a:t>emonstração</a:t>
            </a:r>
            <a:r>
              <a:rPr sz="1400" b="0" dirty="0">
                <a:solidFill>
                  <a:srgbClr val="9BB0BA"/>
                </a:solidFill>
                <a:latin typeface="Calibri"/>
              </a:rPr>
              <a:t> da </a:t>
            </a:r>
            <a:r>
              <a:rPr sz="1400" b="0" dirty="0" err="1">
                <a:solidFill>
                  <a:srgbClr val="9BB0BA"/>
                </a:solidFill>
                <a:latin typeface="Calibri"/>
              </a:rPr>
              <a:t>divisão</a:t>
            </a:r>
            <a:r>
              <a:rPr sz="1400" b="0" dirty="0">
                <a:solidFill>
                  <a:srgbClr val="9BB0BA"/>
                </a:solidFill>
                <a:latin typeface="Calibri"/>
              </a:rPr>
              <a:t> da </a:t>
            </a:r>
            <a:r>
              <a:rPr sz="1400" b="0" dirty="0" err="1">
                <a:solidFill>
                  <a:srgbClr val="9BB0BA"/>
                </a:solidFill>
                <a:latin typeface="Calibri"/>
              </a:rPr>
              <a:t>tese</a:t>
            </a:r>
            <a:endParaRPr sz="1400" b="0" dirty="0">
              <a:solidFill>
                <a:srgbClr val="9BB0B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 err="1">
                <a:solidFill>
                  <a:srgbClr val="FFFFFF"/>
                </a:solidFill>
                <a:latin typeface="Calibri"/>
              </a:rPr>
              <a:t>Objetivo</a:t>
            </a:r>
            <a:endParaRPr sz="3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681742"/>
            <a:ext cx="105156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Apresentar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como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a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tese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será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dividida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em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fases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tecnológicas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e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científicas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Demonstrar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o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protótipo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da Fase 1 (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mapa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de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calor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com IA).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Explicar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detalhadamente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o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que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a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Inteligência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Artificial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faz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neste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momento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Propor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a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estratégia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de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publicação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em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dois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artigos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Alinhar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com a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orientadora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o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escopo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fronteiras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e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cronograma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de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cada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artigo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Problema de pesquisa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" cy="50292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D9B8F"/>
                </a:solidFill>
                <a:latin typeface="Calibri"/>
              </a:rPr>
              <a:t>Contexto social e operacional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66360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Crescimento</a:t>
            </a:r>
            <a:r>
              <a:rPr b="0" dirty="0">
                <a:solidFill>
                  <a:srgbClr val="E8F1F4"/>
                </a:solidFill>
                <a:latin typeface="Calibri"/>
              </a:rPr>
              <a:t> da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População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em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Situação</a:t>
            </a:r>
            <a:r>
              <a:rPr b="0" dirty="0">
                <a:solidFill>
                  <a:srgbClr val="E8F1F4"/>
                </a:solidFill>
                <a:latin typeface="Calibri"/>
              </a:rPr>
              <a:t> de Rua (PSR) no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Brasil</a:t>
            </a:r>
            <a:r>
              <a:rPr b="0" dirty="0">
                <a:solidFill>
                  <a:srgbClr val="E8F1F4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Consultório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na</a:t>
            </a:r>
            <a:r>
              <a:rPr b="0" dirty="0">
                <a:solidFill>
                  <a:srgbClr val="E8F1F4"/>
                </a:solidFill>
                <a:latin typeface="Calibri"/>
              </a:rPr>
              <a:t> Rua (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CnR</a:t>
            </a:r>
            <a:r>
              <a:rPr b="0" dirty="0">
                <a:solidFill>
                  <a:srgbClr val="E8F1F4"/>
                </a:solidFill>
                <a:latin typeface="Calibri"/>
              </a:rPr>
              <a:t>):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cuidado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itinerante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na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Atenção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Primária</a:t>
            </a:r>
            <a:r>
              <a:rPr b="0" dirty="0">
                <a:solidFill>
                  <a:srgbClr val="E8F1F4"/>
                </a:solidFill>
                <a:latin typeface="Calibri"/>
              </a:rPr>
              <a:t> (SUS).</a:t>
            </a:r>
          </a:p>
          <a:p>
            <a:pPr>
              <a:spcAft>
                <a:spcPts val="800"/>
              </a:spcAft>
            </a:pPr>
            <a:r>
              <a:rPr b="0" dirty="0">
                <a:solidFill>
                  <a:srgbClr val="E8F1F4"/>
                </a:solidFill>
                <a:latin typeface="Calibri"/>
              </a:rPr>
              <a:t>•  Equipes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multidisciplinares</a:t>
            </a:r>
            <a:r>
              <a:rPr b="0" dirty="0">
                <a:solidFill>
                  <a:srgbClr val="E8F1F4"/>
                </a:solidFill>
                <a:latin typeface="Calibri"/>
              </a:rPr>
              <a:t> com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escassez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crônica</a:t>
            </a:r>
            <a:r>
              <a:rPr b="0" dirty="0">
                <a:solidFill>
                  <a:srgbClr val="E8F1F4"/>
                </a:solidFill>
                <a:latin typeface="Calibri"/>
              </a:rPr>
              <a:t> de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recursos</a:t>
            </a:r>
            <a:r>
              <a:rPr b="0" dirty="0">
                <a:solidFill>
                  <a:srgbClr val="E8F1F4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b="0" dirty="0">
                <a:solidFill>
                  <a:srgbClr val="E8F1F4"/>
                </a:solidFill>
                <a:latin typeface="Calibri"/>
              </a:rPr>
              <a:t>•  Escalas e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rotas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ainda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planejadas</a:t>
            </a:r>
            <a:r>
              <a:rPr b="0" dirty="0">
                <a:solidFill>
                  <a:srgbClr val="E8F1F4"/>
                </a:solidFill>
                <a:latin typeface="Calibri"/>
              </a:rPr>
              <a:t> de forma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majoritariamente</a:t>
            </a:r>
            <a:r>
              <a:rPr b="0" dirty="0">
                <a:solidFill>
                  <a:srgbClr val="E8F1F4"/>
                </a:solidFill>
                <a:latin typeface="Calibri"/>
              </a:rPr>
              <a:t> manual.</a:t>
            </a:r>
          </a:p>
          <a:p>
            <a:pPr>
              <a:spcAft>
                <a:spcPts val="800"/>
              </a:spcAft>
            </a:pPr>
            <a:r>
              <a:rPr b="0" dirty="0">
                <a:solidFill>
                  <a:srgbClr val="E8F1F4"/>
                </a:solidFill>
                <a:latin typeface="Calibri"/>
              </a:rPr>
              <a:t>•  Risco de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baixa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cobertura</a:t>
            </a:r>
            <a:r>
              <a:rPr b="0" dirty="0">
                <a:solidFill>
                  <a:srgbClr val="E8F1F4"/>
                </a:solidFill>
                <a:latin typeface="Calibri"/>
              </a:rPr>
              <a:t> e de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não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engajar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os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casos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mais</a:t>
            </a:r>
            <a:r>
              <a:rPr b="0" dirty="0">
                <a:solidFill>
                  <a:srgbClr val="E8F1F4"/>
                </a:solidFill>
                <a:latin typeface="Calibri"/>
              </a:rPr>
              <a:t> </a:t>
            </a:r>
            <a:r>
              <a:rPr b="0" dirty="0" err="1">
                <a:solidFill>
                  <a:srgbClr val="E8F1F4"/>
                </a:solidFill>
                <a:latin typeface="Calibri"/>
              </a:rPr>
              <a:t>vulneráveis</a:t>
            </a:r>
            <a:r>
              <a:rPr b="0" dirty="0">
                <a:solidFill>
                  <a:srgbClr val="E8F1F4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73152" cy="50292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14300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D9B8F"/>
                </a:solidFill>
                <a:latin typeface="Calibri"/>
              </a:rPr>
              <a:t>Lacuna científica e tecnológica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166360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>
                <a:solidFill>
                  <a:srgbClr val="E8F1F4"/>
                </a:solidFill>
                <a:latin typeface="Calibri"/>
              </a:rPr>
              <a:t>•  Há literatura de Home Health Care Routing (HHCRSP) e Nurse Rostering.</a:t>
            </a:r>
          </a:p>
          <a:p>
            <a:pPr>
              <a:spcAft>
                <a:spcPts val="800"/>
              </a:spcAft>
            </a:pPr>
            <a:r>
              <a:rPr b="0">
                <a:solidFill>
                  <a:srgbClr val="E8F1F4"/>
                </a:solidFill>
                <a:latin typeface="Calibri"/>
              </a:rPr>
              <a:t>•  Há ML para predição em saúde, em geral hospitalar ou epidemiológica.</a:t>
            </a:r>
          </a:p>
          <a:p>
            <a:pPr>
              <a:spcAft>
                <a:spcPts val="800"/>
              </a:spcAft>
            </a:pPr>
            <a:r>
              <a:rPr b="0">
                <a:solidFill>
                  <a:srgbClr val="E8F1F4"/>
                </a:solidFill>
                <a:latin typeface="Calibri"/>
              </a:rPr>
              <a:t>•  Falta integração IA + Pesquisa Operacional no contexto CnR / SUS / SUAS.</a:t>
            </a:r>
          </a:p>
          <a:p>
            <a:pPr>
              <a:spcAft>
                <a:spcPts val="800"/>
              </a:spcAft>
            </a:pPr>
            <a:r>
              <a:rPr b="0">
                <a:solidFill>
                  <a:srgbClr val="E8F1F4"/>
                </a:solidFill>
                <a:latin typeface="Calibri"/>
              </a:rPr>
              <a:t>•  Ambiente urbano dinâmico e de alta vulnerabilidade é pouco modelado.</a:t>
            </a:r>
          </a:p>
          <a:p>
            <a:pPr>
              <a:spcAft>
                <a:spcPts val="800"/>
              </a:spcAft>
            </a:pPr>
            <a:r>
              <a:rPr b="0">
                <a:solidFill>
                  <a:srgbClr val="E8F1F4"/>
                </a:solidFill>
                <a:latin typeface="Calibri"/>
              </a:rPr>
              <a:t>•  Esta tese propõe um SAD híbrido para preencher essa lacuna.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Como a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tese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se divide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651760" cy="3840480"/>
          </a:xfrm>
          <a:prstGeom prst="roundRect">
            <a:avLst>
              <a:gd name="adj" fmla="val 10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651760" cy="50292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1F4"/>
                </a:solidFill>
                <a:latin typeface="Calibri"/>
              </a:rPr>
              <a:t>Fundação
espacial + IA
+ MVP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B86D"/>
                </a:solidFill>
                <a:latin typeface="Calibri"/>
              </a:rPr>
              <a:t>EM ANDAMENTO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80160"/>
            <a:ext cx="2651760" cy="3840480"/>
          </a:xfrm>
          <a:prstGeom prst="roundRect">
            <a:avLst>
              <a:gd name="adj" fmla="val 10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280160"/>
            <a:ext cx="2651760" cy="502920"/>
          </a:xfrm>
          <a:prstGeom prst="rect">
            <a:avLst/>
          </a:prstGeom>
          <a:solidFill>
            <a:srgbClr val="2A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1F4"/>
                </a:solidFill>
                <a:latin typeface="Calibri"/>
              </a:rPr>
              <a:t>Aprimorar
predição
com dados reais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280160"/>
            <a:ext cx="2651760" cy="3840480"/>
          </a:xfrm>
          <a:prstGeom prst="roundRect">
            <a:avLst>
              <a:gd name="adj" fmla="val 10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59" y="1280160"/>
            <a:ext cx="2651760" cy="502920"/>
          </a:xfrm>
          <a:prstGeom prst="rect">
            <a:avLst/>
          </a:prstGeom>
          <a:solidFill>
            <a:srgbClr val="2A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1F4"/>
                </a:solidFill>
                <a:latin typeface="Calibri"/>
              </a:rPr>
              <a:t>Modelagem
NRP + VRP
(otimização)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1280160"/>
            <a:ext cx="2651760" cy="3840480"/>
          </a:xfrm>
          <a:prstGeom prst="roundRect">
            <a:avLst>
              <a:gd name="adj" fmla="val 10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19" y="1280160"/>
            <a:ext cx="2651760" cy="502920"/>
          </a:xfrm>
          <a:prstGeom prst="rect">
            <a:avLst/>
          </a:prstGeom>
          <a:solidFill>
            <a:srgbClr val="2A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19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Fase 4–5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9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1F4"/>
                </a:solidFill>
                <a:latin typeface="Calibri"/>
              </a:rPr>
              <a:t>Integração
do SAD +
validação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BA"/>
                </a:solidFill>
                <a:latin typeface="Calibri"/>
              </a:rPr>
              <a:t>A Fase 1 é a base empírica e tecnológica dos dois artigos — sem ela, a otimização não tem demanda espacial confiável.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Calibri"/>
              </a:rPr>
              <a:t>Por 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a Fase 1 é 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decisiva</a:t>
            </a:r>
            <a:endParaRPr sz="4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072067"/>
            <a:ext cx="1097280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Transforma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o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problema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social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em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problema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formalizável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: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pontos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densidades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, clusters e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restrições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Cria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a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camada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de dados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georreferenciados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(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PostGIS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)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exigida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por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qualquer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motor de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roteamento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/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escalas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Introduz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IA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preditiva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cedo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,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evitando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que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a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otimização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opere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só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de forma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reativa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e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estática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E8F1F4"/>
                </a:solidFill>
                <a:latin typeface="Calibri"/>
              </a:rPr>
              <a:t>•  Gera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artefato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demonstrável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(MVP visual) para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diálogo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com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gestores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, SMS/SUAS e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comitê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acadêmico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Produz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o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primeiro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núcleo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publicável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(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Artigo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1):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método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territorial + pipeline + </a:t>
            </a:r>
            <a:r>
              <a:rPr sz="2400" b="0" dirty="0" err="1">
                <a:solidFill>
                  <a:srgbClr val="E8F1F4"/>
                </a:solidFill>
                <a:latin typeface="Calibri"/>
              </a:rPr>
              <a:t>validação</a:t>
            </a:r>
            <a:r>
              <a:rPr sz="2400" b="0" dirty="0">
                <a:solidFill>
                  <a:srgbClr val="E8F1F4"/>
                </a:solidFill>
                <a:latin typeface="Calibri"/>
              </a:rPr>
              <a:t> visual.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solidFill>
                  <a:srgbClr val="FFFFFF"/>
                </a:solidFill>
                <a:latin typeface="Calibri"/>
              </a:rPr>
              <a:t>Arquitetura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da Fase 1</a:t>
            </a:r>
          </a:p>
        </p:txBody>
      </p:sp>
      <p:pic>
        <p:nvPicPr>
          <p:cNvPr id="5" name="Picture 4" descr="slide-arquitetura-fase1.png"/>
          <p:cNvPicPr>
            <a:picLocks noChangeAspect="1"/>
          </p:cNvPicPr>
          <p:nvPr/>
        </p:nvPicPr>
        <p:blipFill>
          <a:blip r:embed="rId2"/>
          <a:srcRect t="20870"/>
          <a:stretch>
            <a:fillRect/>
          </a:stretch>
        </p:blipFill>
        <p:spPr>
          <a:xfrm>
            <a:off x="396240" y="1148183"/>
            <a:ext cx="11247120" cy="593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BA"/>
                </a:solidFill>
                <a:latin typeface="Calibri"/>
              </a:rPr>
              <a:t>Separação clara: Python = inteligência e ingestão | Java = API e visualização | PostGIS = verdade espacial.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 que a Inteligência Artificial faz neste momento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B86D"/>
                </a:solidFill>
                <a:latin typeface="Calibri"/>
              </a:rPr>
              <a:t>Script: modelo_preditivo_ia.py  ·  Tipo: Machine Learning não supervisionado (não é LLM/chatbot)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9B8F"/>
                </a:solidFill>
                <a:latin typeface="Calibri"/>
              </a:rPr>
              <a:t>1. Mock territorial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4"/>
                </a:solidFill>
                <a:latin typeface="Calibri"/>
              </a:rPr>
              <a:t>Gera ~500 pontos sintéticos em Bauru, concentrados em 4 epicentros (centro, terminal, sul, norte), com nível de vulnerabilidade 1–5.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4300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9B8F"/>
                </a:solidFill>
                <a:latin typeface="Calibri"/>
              </a:rPr>
              <a:t>2. K-Means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4"/>
                </a:solidFill>
                <a:latin typeface="Calibri"/>
              </a:rPr>
              <a:t>Agrupa coordenadas (lon, lat) em 4 clusters. Descobre aglomerados naturais no território — as futuras “zonas de calor”.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9B8F"/>
                </a:solidFill>
                <a:latin typeface="Calibri"/>
              </a:rPr>
              <a:t>3. KDE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4"/>
                </a:solidFill>
                <a:latin typeface="Calibri"/>
              </a:rPr>
              <a:t>Estima densidade espacial contínua (Kernel Density). Pontos em áreas densas recebem score de concentração mais alto.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83464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9B8F"/>
                </a:solidFill>
                <a:latin typeface="Calibri"/>
              </a:rPr>
              <a:t>4. Score híbrido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4"/>
                </a:solidFill>
                <a:latin typeface="Calibri"/>
              </a:rPr>
              <a:t>probabilidade_ia = 0,65×densidade_normalizada + 0,35×(vulnerabilidade/5). Resultado em [0,1] por paciente.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2628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9B8F"/>
                </a:solidFill>
                <a:latin typeface="Calibri"/>
              </a:rPr>
              <a:t>5. Persistência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4"/>
                </a:solidFill>
                <a:latin typeface="Calibri"/>
              </a:rPr>
              <a:t>Grava pacientes (coordenada + score) e zonas (polígono, centroide, intensidade) no PostGIS.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526280"/>
            <a:ext cx="5623560" cy="155448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663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9B8F"/>
                </a:solidFill>
                <a:latin typeface="Calibri"/>
              </a:rPr>
              <a:t>6. Visualização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4"/>
                </a:solidFill>
                <a:latin typeface="Calibri"/>
              </a:rPr>
              <a:t>O SAD Java lê /api/predicoes/heatmap e plota Leaflet.heat + marcadores dos centroides.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Demonstração: MVP visual com zonas de calor preditas</a:t>
            </a:r>
          </a:p>
        </p:txBody>
      </p:sp>
      <p:pic>
        <p:nvPicPr>
          <p:cNvPr id="5" name="Picture 4" descr="c__Users_Ever_AppData_Roaming_Cursor_User_workspaceStorage_0ccbb252b5dbcb598f6ddfb00c884692_images_image-00460f1e-fa64-4f28-ae38-e555a65566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"/>
            <a:ext cx="11338560" cy="6134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BB0BA"/>
                </a:solidFill>
                <a:latin typeface="Calibri"/>
              </a:rPr>
              <a:t>Protótipo em execução: 500 pacientes · 4 zonas IA · heatmap com probabilidade_ia · Bauru-SP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Como interpretar o mapa na demonstração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" cy="493776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9B8F"/>
                </a:solidFill>
                <a:latin typeface="Calibri"/>
              </a:rPr>
              <a:t>Elementos visuais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6636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Manchas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azul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/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verde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menor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densidade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ou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vulnerabilidade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predita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Amarelo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/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laranja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/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vermelho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maior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probabilidade_ia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prioridade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territorial).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Círculos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centroides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das 4 zonas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encontradas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pelo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K-Means.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E8F1F4"/>
                </a:solidFill>
                <a:latin typeface="Calibri"/>
              </a:rPr>
              <a:t>•  Popup da zona: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intensidade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, nº de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pacientes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e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método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(KMEANS_KDE).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E8F1F4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Botão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“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Atualizar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heatmap”: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recarrega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a API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após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novo </a:t>
            </a:r>
            <a:r>
              <a:rPr sz="1600" b="0" dirty="0" err="1">
                <a:solidFill>
                  <a:srgbClr val="E8F1F4"/>
                </a:solidFill>
                <a:latin typeface="Calibri"/>
              </a:rPr>
              <a:t>ciclo</a:t>
            </a:r>
            <a:r>
              <a:rPr sz="1600" b="0" dirty="0">
                <a:solidFill>
                  <a:srgbClr val="E8F1F4"/>
                </a:solidFill>
                <a:latin typeface="Calibri"/>
              </a:rPr>
              <a:t> Python.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73152" cy="493776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14300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9B8F"/>
                </a:solidFill>
                <a:latin typeface="Calibri"/>
              </a:rPr>
              <a:t>Valor para a gestão do CnR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16636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F1F4"/>
                </a:solidFill>
                <a:latin typeface="Calibri"/>
              </a:rPr>
              <a:t>•  Indica onde as equipes deveriam priorizar presença itinerante.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F1F4"/>
                </a:solidFill>
                <a:latin typeface="Calibri"/>
              </a:rPr>
              <a:t>•  Antecipa polos de vulnerabilidade em vez de só reagir a demandas.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F1F4"/>
                </a:solidFill>
                <a:latin typeface="Calibri"/>
              </a:rPr>
              <a:t>•  Serve de entrada futura para o motor de roteamento (matriz de custos).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F1F4"/>
                </a:solidFill>
                <a:latin typeface="Calibri"/>
              </a:rPr>
              <a:t>•  Facilita comunicação com SMS/SUAS com evidência espacial.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F1F4"/>
                </a:solidFill>
                <a:latin typeface="Calibri"/>
              </a:rPr>
              <a:t>•  Dados atuais são sintéticos; a lógica do método já é a definitiva.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Estratégia científica: dois artigos Qualis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0BA"/>
                </a:solidFill>
                <a:latin typeface="Calibri"/>
              </a:rPr>
              <a:t>Divisão intencional: Artigo 1 = contribuição em IA espacial / DSS preditivo  ·  Artigo 2 = contribuição em Pesquisa Operacional / otimização integrada.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99AFF8E-6CF5-0EDF-E690-A526EB7E6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809" y="749808"/>
            <a:ext cx="7638461" cy="50923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Artigo 1 — Predição territorial e zonas de calor no CnR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B86D"/>
                </a:solidFill>
                <a:latin typeface="Calibri"/>
              </a:rPr>
              <a:t>Âncora: Fases 1–2  ·  Ênfase: IA + geoinformação + SAD visual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73152" cy="50292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9B8F"/>
                </a:solidFill>
                <a:latin typeface="Calibri"/>
              </a:rPr>
              <a:t>Pergunta e contribuição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42899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Como antecipar polos de vulnerabilidade da PSR no território urbano para o CnR?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Método híbrido K-Means + KDE + score de vulnerabilidade.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Pipeline reproduzível Python → PostGIS → heatmap.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MVP de DSS para gestores municipais.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Discussão ética/LGPD e uso de dados sintéticos calibráveis.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5156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051560"/>
            <a:ext cx="73152" cy="50292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1887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9B8F"/>
                </a:solidFill>
                <a:latin typeface="Calibri"/>
              </a:rPr>
              <a:t>Estrutura proposta do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342899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Introdução: CnR, PSR, lacuna preditiva.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Revisão: spatial ML em saúde + outreach.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Método: dados, K-Means, KDE, score, arquitetura.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Resultados: clusters, mapas, indicadores.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Discussão: utilidade gerencial e limites.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Conclusão + agenda para otimização (Art. 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515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051560"/>
            <a:ext cx="73152" cy="50292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9B8F"/>
                </a:solidFill>
                <a:latin typeface="Calibri"/>
              </a:rPr>
              <a:t>Alvos e entregáveis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554480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Alvos: Healthcare Management; IJMI; BMC Health Serv.; Spatial journals.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Também: tracks de DSS em saúde.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Entregáveis: dataset sintético documentado, código, figuras de heatmap, métricas de cluster.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Validação futura: CadÚnico/IPEA/e-SUS.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Artigo 2 — Otimização de escalas e roteamento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B86D"/>
                </a:solidFill>
                <a:latin typeface="Calibri"/>
              </a:rPr>
              <a:t>Âncora: Fases 3–5  ·  Ênfase: Pesquisa Operacional + integração com a demanda predita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73152" cy="50292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9B8F"/>
                </a:solidFill>
                <a:latin typeface="Calibri"/>
              </a:rPr>
              <a:t>Pergunta e contribuição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42899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Como alocar equipes multidisciplinares e rotas itinerantes maximizando cobertura sob restrições do SUS?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Modelo híbrido NRP (escalas) + VRP com janelas.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Demanda alimentada pelas zonas de calor (Art. 1).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Comparação com planejamento manual.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Heurísticas/metaheurísticas (ex.: Timefold).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5156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051560"/>
            <a:ext cx="73152" cy="50292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1887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9B8F"/>
                </a:solidFill>
                <a:latin typeface="Calibri"/>
              </a:rPr>
              <a:t>Estrutura proposta do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342899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Introdução: logística do CnR e escassez.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Revisão: HHCRSP, NRP, VRP em saúde.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Formulação matemática e restrições SUS.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Integração com matriz OSRM + demanda IA.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Experimentos: cobertura, tempo, esgotamento.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Conclusão e implicações de política pública.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515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051560"/>
            <a:ext cx="73152" cy="50292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9B8F"/>
                </a:solidFill>
                <a:latin typeface="Calibri"/>
              </a:rPr>
              <a:t>Alvos e entregáveis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554480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Alvos: Computers &amp; Operations Research; EJOR; Health Care Manag. Sci.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Entregáveis: modelo, instâncias, resultados vs baseline manual.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Indicadores: cobertura, deslocamento, turnos válidos, fairness da carga.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Roteiro de criação dos dois artigos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" cy="50292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9B8F"/>
                </a:solidFill>
                <a:latin typeface="Calibri"/>
              </a:rPr>
              <a:t>Artigo 1 — sequência de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1) Congelar método K-Means+KDE e métricas.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2) Gerar figuras padronizadas (heatmap, clusters).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3) Escrever método + resultados com dados sintéticos.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4) Incorporar calibração CadÚnico/IPEA quando possível.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5) Submeter a periódico de gestão/informática em saúde.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6) Usar revisões para fortalecer a tese e o Art.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16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73152" cy="50292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9B8F"/>
                </a:solidFill>
                <a:latin typeface="Calibri"/>
              </a:rPr>
              <a:t>Artigo 2 — sequência de produção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1) Formalizar NRP+VRP com restrições do MS/SUS.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2) Ligar demanda às zonas do Artigo 1.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3) Implementar solver (heurística/Timefold) + OSRM.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4) Benchmark vs planejamento manual.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5) Analisar cobertura, tempo e carga das equipes.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F1F4"/>
                </a:solidFill>
                <a:latin typeface="Calibri"/>
              </a:rPr>
              <a:t>•  6) Submeter a periódico de Operations Research / Health Care 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9B8F"/>
                </a:solidFill>
                <a:latin typeface="Calibri"/>
              </a:rPr>
              <a:t>Síntese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 Fase 1 já materializa a fundação do SAD:
IA preditiva + dados espaciais + mapa de decisão.
Sobre ela se constroem dois artigos complementares e a otimização das fases seguintes.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9B8F"/>
                </a:solidFill>
                <a:latin typeface="Calibri"/>
              </a:rPr>
              <a:t>Ever Santoro  ·  UNESP/PPGEP  ·  Consultório na Rua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1426</Words>
  <Application>Microsoft Office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Ever Santoro</cp:lastModifiedBy>
  <cp:revision>11</cp:revision>
  <dcterms:created xsi:type="dcterms:W3CDTF">2013-01-27T09:14:16Z</dcterms:created>
  <dcterms:modified xsi:type="dcterms:W3CDTF">2026-07-22T19:11:07Z</dcterms:modified>
  <cp:category/>
</cp:coreProperties>
</file>